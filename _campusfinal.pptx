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9161117-FD64-478C-8F54-285EB3AD439A}">
  <a:tblStyle styleId="{69161117-FD64-478C-8F54-285EB3AD439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" name="Google Shape;2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" name="Google Shape;4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" name="Google Shape;28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4" name="Google Shape;32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5" name="Google Shape;35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2" name="Google Shape;39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DARK">
  <p:cSld name="TITLE_DARK">
    <p:bg>
      <p:bgPr>
        <a:solidFill>
          <a:schemeClr val="dk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GHT">
  <p:cSld name="LIGHT">
    <p:bg>
      <p:bgPr>
        <a:solidFill>
          <a:schemeClr val="lt1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mbria"/>
              <a:buNone/>
              <a:defRPr b="1" i="0" sz="30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4" name="Google Shape;14;p3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CampusHub  |  SECE, Coimbatore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ARK">
  <p:cSld name="DARK">
    <p:bg>
      <p:bgPr>
        <a:solidFill>
          <a:schemeClr val="dk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mbria"/>
              <a:buNone/>
              <a:defRPr b="1" i="0" sz="30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8" name="Google Shape;18;p4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CampusHub  |  SECE, Coimbatore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8.jpg"/><Relationship Id="rId4" Type="http://schemas.openxmlformats.org/officeDocument/2006/relationships/image" Target="../media/image1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5.png"/><Relationship Id="rId6" Type="http://schemas.openxmlformats.org/officeDocument/2006/relationships/image" Target="../media/image41.png"/><Relationship Id="rId7" Type="http://schemas.openxmlformats.org/officeDocument/2006/relationships/image" Target="../media/image4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Relationship Id="rId5" Type="http://schemas.openxmlformats.org/officeDocument/2006/relationships/image" Target="../media/image5.png"/><Relationship Id="rId6" Type="http://schemas.openxmlformats.org/officeDocument/2006/relationships/image" Target="../media/image7.png"/><Relationship Id="rId7" Type="http://schemas.openxmlformats.org/officeDocument/2006/relationships/image" Target="../media/image6.png"/><Relationship Id="rId8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14.png"/><Relationship Id="rId5" Type="http://schemas.openxmlformats.org/officeDocument/2006/relationships/image" Target="../media/image5.png"/><Relationship Id="rId6" Type="http://schemas.openxmlformats.org/officeDocument/2006/relationships/image" Target="../media/image7.png"/><Relationship Id="rId7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3.png"/><Relationship Id="rId4" Type="http://schemas.openxmlformats.org/officeDocument/2006/relationships/image" Target="../media/image22.png"/><Relationship Id="rId5" Type="http://schemas.openxmlformats.org/officeDocument/2006/relationships/image" Target="../media/image20.png"/><Relationship Id="rId6" Type="http://schemas.openxmlformats.org/officeDocument/2006/relationships/image" Target="../media/image25.png"/><Relationship Id="rId7" Type="http://schemas.openxmlformats.org/officeDocument/2006/relationships/image" Target="../media/image28.png"/><Relationship Id="rId8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jpg"/><Relationship Id="rId4" Type="http://schemas.openxmlformats.org/officeDocument/2006/relationships/image" Target="../media/image34.jpg"/><Relationship Id="rId5" Type="http://schemas.openxmlformats.org/officeDocument/2006/relationships/image" Target="../media/image31.jpg"/><Relationship Id="rId6" Type="http://schemas.openxmlformats.org/officeDocument/2006/relationships/image" Target="../media/image38.jpg"/><Relationship Id="rId7" Type="http://schemas.openxmlformats.org/officeDocument/2006/relationships/image" Target="../media/image40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7.png"/><Relationship Id="rId4" Type="http://schemas.openxmlformats.org/officeDocument/2006/relationships/image" Target="../media/image30.png"/><Relationship Id="rId5" Type="http://schemas.openxmlformats.org/officeDocument/2006/relationships/image" Target="../media/image3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8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/>
        </p:nvSpPr>
        <p:spPr>
          <a:xfrm>
            <a:off x="457200" y="64008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SRI ESHWAR COLLEGE OF ENGINEERING  |  COIMBATORE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6"/>
          <p:cNvSpPr txBox="1"/>
          <p:nvPr/>
        </p:nvSpPr>
        <p:spPr>
          <a:xfrm>
            <a:off x="457200" y="1051560"/>
            <a:ext cx="47548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ambria"/>
              <a:buNone/>
            </a:pPr>
            <a:r>
              <a:rPr b="1" i="0" lang="en-US" sz="54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CampusHub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6"/>
          <p:cNvSpPr txBox="1"/>
          <p:nvPr/>
        </p:nvSpPr>
        <p:spPr>
          <a:xfrm>
            <a:off x="457200" y="2011680"/>
            <a:ext cx="4572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One verified home for everything happening on campus.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6"/>
          <p:cNvSpPr/>
          <p:nvPr/>
        </p:nvSpPr>
        <p:spPr>
          <a:xfrm>
            <a:off x="457200" y="2926080"/>
            <a:ext cx="2011680" cy="384048"/>
          </a:xfrm>
          <a:prstGeom prst="roundRect">
            <a:avLst>
              <a:gd fmla="val 47619" name="adj"/>
            </a:avLst>
          </a:prstGeom>
          <a:solidFill>
            <a:schemeClr val="dk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6"/>
          <p:cNvSpPr txBox="1"/>
          <p:nvPr/>
        </p:nvSpPr>
        <p:spPr>
          <a:xfrm>
            <a:off x="457200" y="2926080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Verified students only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6"/>
          <p:cNvSpPr/>
          <p:nvPr/>
        </p:nvSpPr>
        <p:spPr>
          <a:xfrm>
            <a:off x="2606040" y="2926080"/>
            <a:ext cx="2011680" cy="384048"/>
          </a:xfrm>
          <a:prstGeom prst="roundRect">
            <a:avLst>
              <a:gd fmla="val 47619" name="adj"/>
            </a:avLst>
          </a:prstGeom>
          <a:solidFill>
            <a:schemeClr val="dk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6"/>
          <p:cNvSpPr txBox="1"/>
          <p:nvPr/>
        </p:nvSpPr>
        <p:spPr>
          <a:xfrm>
            <a:off x="2606040" y="2926080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Join in one tap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6"/>
          <p:cNvSpPr txBox="1"/>
          <p:nvPr/>
        </p:nvSpPr>
        <p:spPr>
          <a:xfrm>
            <a:off x="457200" y="370332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PRESENTED BY CRAZY RHINOS🇳🇵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6"/>
          <p:cNvSpPr txBox="1"/>
          <p:nvPr/>
        </p:nvSpPr>
        <p:spPr>
          <a:xfrm>
            <a:off x="457200" y="3977640"/>
            <a:ext cx="4846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Rakesh  |  Anshu  |  Raj  |  Ghanshyam  |  Kamlesh  |  Priyankaa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6"/>
          <p:cNvSpPr/>
          <p:nvPr/>
        </p:nvSpPr>
        <p:spPr>
          <a:xfrm>
            <a:off x="5193792" y="804672"/>
            <a:ext cx="1773936" cy="3419856"/>
          </a:xfrm>
          <a:prstGeom prst="roundRect">
            <a:avLst>
              <a:gd fmla="val 6186" name="adj"/>
            </a:avLst>
          </a:prstGeom>
          <a:solidFill>
            <a:schemeClr val="accent1"/>
          </a:solidFill>
          <a:ln>
            <a:noFill/>
          </a:ln>
          <a:effectLst>
            <a:outerShdw blurRad="101600" rotWithShape="0" algn="bl" dir="5400000" dist="25400">
              <a:srgbClr val="000000">
                <a:alpha val="1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ampusHub prototype screen: login" id="36" name="Google Shape;3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57800" y="868680"/>
            <a:ext cx="1645920" cy="329184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6"/>
          <p:cNvSpPr/>
          <p:nvPr/>
        </p:nvSpPr>
        <p:spPr>
          <a:xfrm>
            <a:off x="6976872" y="1307592"/>
            <a:ext cx="1773936" cy="3419856"/>
          </a:xfrm>
          <a:prstGeom prst="roundRect">
            <a:avLst>
              <a:gd fmla="val 6186" name="adj"/>
            </a:avLst>
          </a:prstGeom>
          <a:solidFill>
            <a:schemeClr val="accent2"/>
          </a:solidFill>
          <a:ln>
            <a:noFill/>
          </a:ln>
          <a:effectLst>
            <a:outerShdw blurRad="101600" rotWithShape="0" algn="bl" dir="5400000" dist="25400">
              <a:srgbClr val="000000">
                <a:alpha val="1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ampusHub prototype screen: home" id="38" name="Google Shape;3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40880" y="1371600"/>
            <a:ext cx="1645920" cy="3291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/>
          <p:nvPr/>
        </p:nvSpPr>
        <p:spPr>
          <a:xfrm>
            <a:off x="457200" y="256032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01  THE PROBLEM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7"/>
          <p:cNvSpPr txBox="1"/>
          <p:nvPr>
            <p:ph type="title"/>
          </p:nvPr>
        </p:nvSpPr>
        <p:spPr>
          <a:xfrm>
            <a:off x="457200" y="502938"/>
            <a:ext cx="73152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mbria"/>
              <a:buNone/>
            </a:pPr>
            <a:r>
              <a:rPr b="1" lang="en-US" sz="2100">
                <a:solidFill>
                  <a:schemeClr val="dk1"/>
                </a:solidFill>
              </a:rPr>
              <a:t>Students </a:t>
            </a:r>
            <a:r>
              <a:rPr lang="en-US" sz="2100"/>
              <a:t>miss campus opportunities because information is scattered, unverified and hard to act on in time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mbria"/>
              <a:buNone/>
            </a:pPr>
            <a:r>
              <a:t/>
            </a:r>
            <a:endParaRPr sz="2100"/>
          </a:p>
        </p:txBody>
      </p:sp>
      <p:sp>
        <p:nvSpPr>
          <p:cNvPr id="46" name="Google Shape;46;p7"/>
          <p:cNvSpPr/>
          <p:nvPr/>
        </p:nvSpPr>
        <p:spPr>
          <a:xfrm>
            <a:off x="457200" y="1325880"/>
            <a:ext cx="3108960" cy="3246120"/>
          </a:xfrm>
          <a:prstGeom prst="roundRect">
            <a:avLst>
              <a:gd fmla="val 3529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7"/>
          <p:cNvSpPr txBox="1"/>
          <p:nvPr/>
        </p:nvSpPr>
        <p:spPr>
          <a:xfrm>
            <a:off x="685800" y="1371600"/>
            <a:ext cx="914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Font typeface="Cambria"/>
              <a:buNone/>
            </a:pPr>
            <a:r>
              <a:rPr b="1" i="0" lang="en-US" sz="8000" u="none" cap="none" strike="noStrike">
                <a:solidFill>
                  <a:schemeClr val="accent2"/>
                </a:solidFill>
                <a:latin typeface="Cambria"/>
                <a:ea typeface="Cambria"/>
                <a:cs typeface="Cambria"/>
                <a:sym typeface="Cambria"/>
              </a:rPr>
              <a:t>"</a:t>
            </a:r>
            <a:endParaRPr b="0" i="0" sz="8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7"/>
          <p:cNvSpPr txBox="1"/>
          <p:nvPr/>
        </p:nvSpPr>
        <p:spPr>
          <a:xfrm>
            <a:off x="685800" y="2148840"/>
            <a:ext cx="265176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Students hear about events after they are over.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7"/>
          <p:cNvSpPr txBox="1"/>
          <p:nvPr/>
        </p:nvSpPr>
        <p:spPr>
          <a:xfrm>
            <a:off x="685800" y="402336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The everyday campus experience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7"/>
          <p:cNvSpPr/>
          <p:nvPr/>
        </p:nvSpPr>
        <p:spPr>
          <a:xfrm>
            <a:off x="3749040" y="1325880"/>
            <a:ext cx="2377440" cy="1554480"/>
          </a:xfrm>
          <a:prstGeom prst="roundRect">
            <a:avLst>
              <a:gd fmla="val 705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7"/>
          <p:cNvSpPr/>
          <p:nvPr/>
        </p:nvSpPr>
        <p:spPr>
          <a:xfrm>
            <a:off x="3931920" y="150876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2" name="Google Shape;5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46220" y="162306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7"/>
          <p:cNvSpPr txBox="1"/>
          <p:nvPr/>
        </p:nvSpPr>
        <p:spPr>
          <a:xfrm>
            <a:off x="4526280" y="1508760"/>
            <a:ext cx="1417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Scattered updates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7"/>
          <p:cNvSpPr txBox="1"/>
          <p:nvPr/>
        </p:nvSpPr>
        <p:spPr>
          <a:xfrm>
            <a:off x="3931920" y="2103120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Spread across many WhatsApp groups, DMs and notice boards.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7"/>
          <p:cNvSpPr/>
          <p:nvPr/>
        </p:nvSpPr>
        <p:spPr>
          <a:xfrm>
            <a:off x="6309360" y="1325880"/>
            <a:ext cx="2377440" cy="1554480"/>
          </a:xfrm>
          <a:prstGeom prst="roundRect">
            <a:avLst>
              <a:gd fmla="val 705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7"/>
          <p:cNvSpPr/>
          <p:nvPr/>
        </p:nvSpPr>
        <p:spPr>
          <a:xfrm>
            <a:off x="6492240" y="150876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7" name="Google Shape;5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06540" y="162306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/>
        </p:nvSpPr>
        <p:spPr>
          <a:xfrm>
            <a:off x="7086600" y="1508760"/>
            <a:ext cx="1417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Unverifiable links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7"/>
          <p:cNvSpPr txBox="1"/>
          <p:nvPr/>
        </p:nvSpPr>
        <p:spPr>
          <a:xfrm>
            <a:off x="6492240" y="2103120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Fake or unclear links get forwarded with no way to check them.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7"/>
          <p:cNvSpPr/>
          <p:nvPr/>
        </p:nvSpPr>
        <p:spPr>
          <a:xfrm>
            <a:off x="3749040" y="2971800"/>
            <a:ext cx="2377440" cy="1554480"/>
          </a:xfrm>
          <a:prstGeom prst="roundRect">
            <a:avLst>
              <a:gd fmla="val 705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7"/>
          <p:cNvSpPr/>
          <p:nvPr/>
        </p:nvSpPr>
        <p:spPr>
          <a:xfrm>
            <a:off x="3931920" y="315468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2" name="Google Shape;62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46220" y="326898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7"/>
          <p:cNvSpPr txBox="1"/>
          <p:nvPr/>
        </p:nvSpPr>
        <p:spPr>
          <a:xfrm>
            <a:off x="4526280" y="3154680"/>
            <a:ext cx="1417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Buried files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7"/>
          <p:cNvSpPr txBox="1"/>
          <p:nvPr/>
        </p:nvSpPr>
        <p:spPr>
          <a:xfrm>
            <a:off x="3931920" y="3749040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Posters and important documents sink deep in chat history.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7"/>
          <p:cNvSpPr/>
          <p:nvPr/>
        </p:nvSpPr>
        <p:spPr>
          <a:xfrm>
            <a:off x="6309360" y="2971800"/>
            <a:ext cx="2377440" cy="1554480"/>
          </a:xfrm>
          <a:prstGeom prst="roundRect">
            <a:avLst>
              <a:gd fmla="val 705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7"/>
          <p:cNvSpPr/>
          <p:nvPr/>
        </p:nvSpPr>
        <p:spPr>
          <a:xfrm>
            <a:off x="6492240" y="315468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7" name="Google Shape;67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06540" y="326898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7"/>
          <p:cNvSpPr txBox="1"/>
          <p:nvPr/>
        </p:nvSpPr>
        <p:spPr>
          <a:xfrm>
            <a:off x="7086600" y="3154680"/>
            <a:ext cx="1417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Missed deadlines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7"/>
          <p:cNvSpPr txBox="1"/>
          <p:nvPr/>
        </p:nvSpPr>
        <p:spPr>
          <a:xfrm>
            <a:off x="6492240" y="3749040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Students hesitate to approach clubs and miss sign-ups.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7"/>
          <p:cNvSpPr txBox="1"/>
          <p:nvPr>
            <p:ph idx="4294967295" type="sldNum"/>
          </p:nvPr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8"/>
          <p:cNvSpPr txBox="1"/>
          <p:nvPr/>
        </p:nvSpPr>
        <p:spPr>
          <a:xfrm>
            <a:off x="457200" y="256032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02  EXISTING SOLUTIONS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8"/>
          <p:cNvSpPr txBox="1"/>
          <p:nvPr>
            <p:ph type="title"/>
          </p:nvPr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1"/>
                </a:solidFill>
              </a:rPr>
              <a:t>Existing solutions and their gaps</a:t>
            </a:r>
            <a:endParaRPr sz="3000"/>
          </a:p>
        </p:txBody>
      </p:sp>
      <p:graphicFrame>
        <p:nvGraphicFramePr>
          <p:cNvPr id="78" name="Google Shape;78;p8"/>
          <p:cNvGraphicFramePr/>
          <p:nvPr/>
        </p:nvGraphicFramePr>
        <p:xfrm>
          <a:off x="457200" y="13258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{69161117-FD64-478C-8F54-285EB3AD439A}</a:tableStyleId>
              </a:tblPr>
              <a:tblGrid>
                <a:gridCol w="1828800"/>
                <a:gridCol w="2926075"/>
                <a:gridCol w="3474725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lt1"/>
                          </a:solidFill>
                        </a:rPr>
                        <a:t>Channel</a:t>
                      </a:r>
                      <a:endParaRPr sz="13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lt1"/>
                          </a:solidFill>
                        </a:rPr>
                        <a:t>How it is used</a:t>
                      </a:r>
                      <a:endParaRPr sz="13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lt1"/>
                          </a:solidFill>
                        </a:rPr>
                        <a:t>The gap</a:t>
                      </a:r>
                      <a:endParaRPr sz="13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dk1"/>
                          </a:solidFill>
                        </a:rPr>
                        <a:t>WhatsApp groups</a:t>
                      </a:r>
                      <a:endParaRPr sz="13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chemeClr val="dk1"/>
                          </a:solidFill>
                        </a:rPr>
                        <a:t>Fast announcements inside each club</a:t>
                      </a:r>
                      <a:endParaRPr sz="13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chemeClr val="dk1"/>
                          </a:solidFill>
                        </a:rPr>
                        <a:t>Hundreds of groups, no search, messages and files get buried</a:t>
                      </a:r>
                      <a:endParaRPr sz="13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dk1"/>
                          </a:solidFill>
                        </a:rPr>
                        <a:t>Instagram pages</a:t>
                      </a:r>
                      <a:endParaRPr sz="13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chemeClr val="dk1"/>
                          </a:solidFill>
                        </a:rPr>
                        <a:t>Posters and reels for public reach</a:t>
                      </a:r>
                      <a:endParaRPr sz="13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chemeClr val="dk1"/>
                          </a:solidFill>
                        </a:rPr>
                        <a:t>Easy to miss, anyone can post, no club rooms or RSVP</a:t>
                      </a:r>
                      <a:endParaRPr sz="13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dk1"/>
                          </a:solidFill>
                        </a:rPr>
                        <a:t>Notice boards</a:t>
                      </a:r>
                      <a:endParaRPr sz="13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chemeClr val="dk1"/>
                          </a:solidFill>
                        </a:rPr>
                        <a:t>Physical posters across campus</a:t>
                      </a:r>
                      <a:endParaRPr sz="13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chemeClr val="dk1"/>
                          </a:solidFill>
                        </a:rPr>
                        <a:t>Only seen if you walk past, no reminders or updates</a:t>
                      </a:r>
                      <a:endParaRPr sz="13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dk1"/>
                          </a:solidFill>
                        </a:rPr>
                        <a:t>Forwarded links</a:t>
                      </a:r>
                      <a:endParaRPr sz="13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chemeClr val="dk1"/>
                          </a:solidFill>
                        </a:rPr>
                        <a:t>Forms and sign-ups shared by chat</a:t>
                      </a:r>
                      <a:endParaRPr sz="13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chemeClr val="dk1"/>
                          </a:solidFill>
                        </a:rPr>
                        <a:t>Unverified and often fake, nobody can tell what is real</a:t>
                      </a:r>
                      <a:endParaRPr sz="13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79" name="Google Shape;79;p8"/>
          <p:cNvSpPr/>
          <p:nvPr/>
        </p:nvSpPr>
        <p:spPr>
          <a:xfrm>
            <a:off x="457200" y="4114800"/>
            <a:ext cx="8229600" cy="457200"/>
          </a:xfrm>
          <a:prstGeom prst="roundRect">
            <a:avLst>
              <a:gd fmla="val 2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8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 single, verified place to see what is happening on campus today.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8"/>
          <p:cNvSpPr txBox="1"/>
          <p:nvPr>
            <p:ph idx="4294967295" type="sldNum"/>
          </p:nvPr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9"/>
          <p:cNvSpPr txBox="1"/>
          <p:nvPr/>
        </p:nvSpPr>
        <p:spPr>
          <a:xfrm>
            <a:off x="457200" y="256032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03  PROPOSED SOLUTION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9"/>
          <p:cNvSpPr txBox="1"/>
          <p:nvPr>
            <p:ph type="title"/>
          </p:nvPr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lt1"/>
                </a:solidFill>
              </a:rPr>
              <a:t>One verified home for campus life</a:t>
            </a:r>
            <a:endParaRPr sz="3000"/>
          </a:p>
        </p:txBody>
      </p:sp>
      <p:sp>
        <p:nvSpPr>
          <p:cNvPr id="89" name="Google Shape;89;p9"/>
          <p:cNvSpPr/>
          <p:nvPr/>
        </p:nvSpPr>
        <p:spPr>
          <a:xfrm>
            <a:off x="457200" y="1325880"/>
            <a:ext cx="2651760" cy="1508760"/>
          </a:xfrm>
          <a:prstGeom prst="roundRect">
            <a:avLst>
              <a:gd fmla="val 7273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9"/>
          <p:cNvSpPr/>
          <p:nvPr/>
        </p:nvSpPr>
        <p:spPr>
          <a:xfrm>
            <a:off x="640080" y="150876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1" name="Google Shape;9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4380" y="162306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9"/>
          <p:cNvSpPr txBox="1"/>
          <p:nvPr/>
        </p:nvSpPr>
        <p:spPr>
          <a:xfrm>
            <a:off x="1234440" y="150876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Verify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9"/>
          <p:cNvSpPr txBox="1"/>
          <p:nvPr/>
        </p:nvSpPr>
        <p:spPr>
          <a:xfrm>
            <a:off x="640080" y="2103120"/>
            <a:ext cx="2286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Sign in with a verified college email, so only real students get in.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9"/>
          <p:cNvSpPr/>
          <p:nvPr/>
        </p:nvSpPr>
        <p:spPr>
          <a:xfrm>
            <a:off x="3246120" y="1325880"/>
            <a:ext cx="2651760" cy="1508760"/>
          </a:xfrm>
          <a:prstGeom prst="roundRect">
            <a:avLst>
              <a:gd fmla="val 7273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9"/>
          <p:cNvSpPr/>
          <p:nvPr/>
        </p:nvSpPr>
        <p:spPr>
          <a:xfrm>
            <a:off x="3429000" y="150876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6" name="Google Shape;96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3300" y="162306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9"/>
          <p:cNvSpPr txBox="1"/>
          <p:nvPr/>
        </p:nvSpPr>
        <p:spPr>
          <a:xfrm>
            <a:off x="4023360" y="150876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Discover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9"/>
          <p:cNvSpPr txBox="1"/>
          <p:nvPr/>
        </p:nvSpPr>
        <p:spPr>
          <a:xfrm>
            <a:off x="3429000" y="2103120"/>
            <a:ext cx="2286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The home page shows what is live today and what is happening next.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9"/>
          <p:cNvSpPr/>
          <p:nvPr/>
        </p:nvSpPr>
        <p:spPr>
          <a:xfrm>
            <a:off x="6035040" y="1325880"/>
            <a:ext cx="2651760" cy="1508760"/>
          </a:xfrm>
          <a:prstGeom prst="roundRect">
            <a:avLst>
              <a:gd fmla="val 7273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9"/>
          <p:cNvSpPr/>
          <p:nvPr/>
        </p:nvSpPr>
        <p:spPr>
          <a:xfrm>
            <a:off x="6217920" y="150876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1" name="Google Shape;101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2220" y="162306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9"/>
          <p:cNvSpPr txBox="1"/>
          <p:nvPr/>
        </p:nvSpPr>
        <p:spPr>
          <a:xfrm>
            <a:off x="6812280" y="150876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Join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9"/>
          <p:cNvSpPr txBox="1"/>
          <p:nvPr/>
        </p:nvSpPr>
        <p:spPr>
          <a:xfrm>
            <a:off x="6217920" y="2103120"/>
            <a:ext cx="2286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Join any club in one tap, no forms and no forwarded links.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9"/>
          <p:cNvSpPr/>
          <p:nvPr/>
        </p:nvSpPr>
        <p:spPr>
          <a:xfrm>
            <a:off x="457200" y="3017520"/>
            <a:ext cx="4046220" cy="1554480"/>
          </a:xfrm>
          <a:prstGeom prst="roundRect">
            <a:avLst>
              <a:gd fmla="val 7059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9"/>
          <p:cNvSpPr/>
          <p:nvPr/>
        </p:nvSpPr>
        <p:spPr>
          <a:xfrm>
            <a:off x="640080" y="3200400"/>
            <a:ext cx="457200" cy="457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6" name="Google Shape;106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4380" y="33147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9"/>
          <p:cNvSpPr txBox="1"/>
          <p:nvPr/>
        </p:nvSpPr>
        <p:spPr>
          <a:xfrm>
            <a:off x="1234440" y="3200400"/>
            <a:ext cx="3086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Public Stage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9"/>
          <p:cNvSpPr txBox="1"/>
          <p:nvPr/>
        </p:nvSpPr>
        <p:spPr>
          <a:xfrm>
            <a:off x="640080" y="3794760"/>
            <a:ext cx="36804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Open to every verified student: club posts, showcases and upcoming events.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9"/>
          <p:cNvSpPr/>
          <p:nvPr/>
        </p:nvSpPr>
        <p:spPr>
          <a:xfrm>
            <a:off x="4640580" y="3017520"/>
            <a:ext cx="4046220" cy="1554480"/>
          </a:xfrm>
          <a:prstGeom prst="roundRect">
            <a:avLst>
              <a:gd fmla="val 7059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9"/>
          <p:cNvSpPr/>
          <p:nvPr/>
        </p:nvSpPr>
        <p:spPr>
          <a:xfrm>
            <a:off x="4823460" y="3200400"/>
            <a:ext cx="457200" cy="457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1" name="Google Shape;111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37760" y="33147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9"/>
          <p:cNvSpPr txBox="1"/>
          <p:nvPr/>
        </p:nvSpPr>
        <p:spPr>
          <a:xfrm>
            <a:off x="5417820" y="3200400"/>
            <a:ext cx="3086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Members-only Backstage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9"/>
          <p:cNvSpPr txBox="1"/>
          <p:nvPr/>
        </p:nvSpPr>
        <p:spPr>
          <a:xfrm>
            <a:off x="4823460" y="3794760"/>
            <a:ext cx="36804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Tasks, planning and chat for members, kept out of public view.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9"/>
          <p:cNvSpPr txBox="1"/>
          <p:nvPr>
            <p:ph idx="4294967295" type="sldNum"/>
          </p:nvPr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0"/>
          <p:cNvSpPr txBox="1"/>
          <p:nvPr/>
        </p:nvSpPr>
        <p:spPr>
          <a:xfrm>
            <a:off x="457200" y="256032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04  KEY FEATURES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0"/>
          <p:cNvSpPr txBox="1"/>
          <p:nvPr>
            <p:ph type="title"/>
          </p:nvPr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1"/>
                </a:solidFill>
              </a:rPr>
              <a:t>Everything a club needs, in one place</a:t>
            </a:r>
            <a:endParaRPr sz="3000"/>
          </a:p>
        </p:txBody>
      </p:sp>
      <p:sp>
        <p:nvSpPr>
          <p:cNvPr id="122" name="Google Shape;122;p10"/>
          <p:cNvSpPr/>
          <p:nvPr/>
        </p:nvSpPr>
        <p:spPr>
          <a:xfrm>
            <a:off x="457200" y="1325880"/>
            <a:ext cx="2651760" cy="1554480"/>
          </a:xfrm>
          <a:prstGeom prst="roundRect">
            <a:avLst>
              <a:gd fmla="val 705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0"/>
          <p:cNvSpPr/>
          <p:nvPr/>
        </p:nvSpPr>
        <p:spPr>
          <a:xfrm>
            <a:off x="640080" y="150876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4" name="Google Shape;12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4380" y="162306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0"/>
          <p:cNvSpPr txBox="1"/>
          <p:nvPr/>
        </p:nvSpPr>
        <p:spPr>
          <a:xfrm>
            <a:off x="1234440" y="150876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Verified login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0"/>
          <p:cNvSpPr txBox="1"/>
          <p:nvPr/>
        </p:nvSpPr>
        <p:spPr>
          <a:xfrm>
            <a:off x="640080" y="2103120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College-email sign-in keeps the community students-only.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0"/>
          <p:cNvSpPr/>
          <p:nvPr/>
        </p:nvSpPr>
        <p:spPr>
          <a:xfrm>
            <a:off x="3246120" y="1325880"/>
            <a:ext cx="2651760" cy="1554480"/>
          </a:xfrm>
          <a:prstGeom prst="roundRect">
            <a:avLst>
              <a:gd fmla="val 705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0"/>
          <p:cNvSpPr/>
          <p:nvPr/>
        </p:nvSpPr>
        <p:spPr>
          <a:xfrm>
            <a:off x="3429000" y="150876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9" name="Google Shape;129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3300" y="162306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0"/>
          <p:cNvSpPr txBox="1"/>
          <p:nvPr/>
        </p:nvSpPr>
        <p:spPr>
          <a:xfrm>
            <a:off x="4023360" y="150876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Today on campus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0"/>
          <p:cNvSpPr txBox="1"/>
          <p:nvPr/>
        </p:nvSpPr>
        <p:spPr>
          <a:xfrm>
            <a:off x="3429000" y="2103120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Live-now and up-next events front and centre on Home.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0"/>
          <p:cNvSpPr/>
          <p:nvPr/>
        </p:nvSpPr>
        <p:spPr>
          <a:xfrm>
            <a:off x="6035040" y="1325880"/>
            <a:ext cx="2651760" cy="1554480"/>
          </a:xfrm>
          <a:prstGeom prst="roundRect">
            <a:avLst>
              <a:gd fmla="val 705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0"/>
          <p:cNvSpPr/>
          <p:nvPr/>
        </p:nvSpPr>
        <p:spPr>
          <a:xfrm>
            <a:off x="6217920" y="150876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4" name="Google Shape;134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2220" y="162306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0"/>
          <p:cNvSpPr txBox="1"/>
          <p:nvPr/>
        </p:nvSpPr>
        <p:spPr>
          <a:xfrm>
            <a:off x="6812280" y="150876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One-tap join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0"/>
          <p:cNvSpPr txBox="1"/>
          <p:nvPr/>
        </p:nvSpPr>
        <p:spPr>
          <a:xfrm>
            <a:off x="6217920" y="2103120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Join a club instantly from Explore, with member counts visible.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0"/>
          <p:cNvSpPr/>
          <p:nvPr/>
        </p:nvSpPr>
        <p:spPr>
          <a:xfrm>
            <a:off x="457200" y="3017520"/>
            <a:ext cx="2651760" cy="1554480"/>
          </a:xfrm>
          <a:prstGeom prst="roundRect">
            <a:avLst>
              <a:gd fmla="val 705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0"/>
          <p:cNvSpPr/>
          <p:nvPr/>
        </p:nvSpPr>
        <p:spPr>
          <a:xfrm>
            <a:off x="640080" y="32004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9" name="Google Shape;139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4380" y="33147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0"/>
          <p:cNvSpPr txBox="1"/>
          <p:nvPr/>
        </p:nvSpPr>
        <p:spPr>
          <a:xfrm>
            <a:off x="1234440" y="320040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Events and RSVP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0"/>
          <p:cNvSpPr txBox="1"/>
          <p:nvPr/>
        </p:nvSpPr>
        <p:spPr>
          <a:xfrm>
            <a:off x="640080" y="3794760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See dates, venues and who is going, then RSVP in a tap.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0"/>
          <p:cNvSpPr/>
          <p:nvPr/>
        </p:nvSpPr>
        <p:spPr>
          <a:xfrm>
            <a:off x="3246120" y="3017520"/>
            <a:ext cx="2651760" cy="1554480"/>
          </a:xfrm>
          <a:prstGeom prst="roundRect">
            <a:avLst>
              <a:gd fmla="val 705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0"/>
          <p:cNvSpPr/>
          <p:nvPr/>
        </p:nvSpPr>
        <p:spPr>
          <a:xfrm>
            <a:off x="3429000" y="32004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4" name="Google Shape;144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543300" y="33147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0"/>
          <p:cNvSpPr txBox="1"/>
          <p:nvPr/>
        </p:nvSpPr>
        <p:spPr>
          <a:xfrm>
            <a:off x="4023360" y="320040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Stage and Backstage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0"/>
          <p:cNvSpPr txBox="1"/>
          <p:nvPr/>
        </p:nvSpPr>
        <p:spPr>
          <a:xfrm>
            <a:off x="3429000" y="3794760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Public feed for everyone, private tasks and chat for members.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0"/>
          <p:cNvSpPr/>
          <p:nvPr/>
        </p:nvSpPr>
        <p:spPr>
          <a:xfrm>
            <a:off x="6035040" y="3017520"/>
            <a:ext cx="2651760" cy="1554480"/>
          </a:xfrm>
          <a:prstGeom prst="roundRect">
            <a:avLst>
              <a:gd fmla="val 705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0"/>
          <p:cNvSpPr/>
          <p:nvPr/>
        </p:nvSpPr>
        <p:spPr>
          <a:xfrm>
            <a:off x="6217920" y="32004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9" name="Google Shape;149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32220" y="33147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0"/>
          <p:cNvSpPr txBox="1"/>
          <p:nvPr/>
        </p:nvSpPr>
        <p:spPr>
          <a:xfrm>
            <a:off x="6812280" y="320040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Trust and safety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0"/>
          <p:cNvSpPr txBox="1"/>
          <p:nvPr/>
        </p:nvSpPr>
        <p:spPr>
          <a:xfrm>
            <a:off x="6217920" y="3794760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Report button, moderator review and instant notifications.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0"/>
          <p:cNvSpPr txBox="1"/>
          <p:nvPr>
            <p:ph idx="4294967295" type="sldNum"/>
          </p:nvPr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1"/>
          <p:cNvSpPr txBox="1"/>
          <p:nvPr/>
        </p:nvSpPr>
        <p:spPr>
          <a:xfrm>
            <a:off x="457200" y="256032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05  SYSTEM ARCHITECTURE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1"/>
          <p:cNvSpPr txBox="1"/>
          <p:nvPr>
            <p:ph type="title"/>
          </p:nvPr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1"/>
                </a:solidFill>
              </a:rPr>
              <a:t>A simple three-layer design</a:t>
            </a:r>
            <a:endParaRPr sz="3000"/>
          </a:p>
        </p:txBody>
      </p:sp>
      <p:sp>
        <p:nvSpPr>
          <p:cNvPr id="160" name="Google Shape;160;p11"/>
          <p:cNvSpPr/>
          <p:nvPr/>
        </p:nvSpPr>
        <p:spPr>
          <a:xfrm>
            <a:off x="457200" y="1325880"/>
            <a:ext cx="2286000" cy="2834640"/>
          </a:xfrm>
          <a:prstGeom prst="roundRect">
            <a:avLst>
              <a:gd fmla="val 48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1"/>
          <p:cNvSpPr txBox="1"/>
          <p:nvPr/>
        </p:nvSpPr>
        <p:spPr>
          <a:xfrm>
            <a:off x="640080" y="141732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 Client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1"/>
          <p:cNvSpPr/>
          <p:nvPr/>
        </p:nvSpPr>
        <p:spPr>
          <a:xfrm>
            <a:off x="640080" y="1810512"/>
            <a:ext cx="1920240" cy="402336"/>
          </a:xfrm>
          <a:prstGeom prst="roundRect">
            <a:avLst>
              <a:gd fmla="val 18182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1"/>
          <p:cNvSpPr txBox="1"/>
          <p:nvPr/>
        </p:nvSpPr>
        <p:spPr>
          <a:xfrm>
            <a:off x="731520" y="1810512"/>
            <a:ext cx="17373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Home and Today feed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1"/>
          <p:cNvSpPr/>
          <p:nvPr/>
        </p:nvSpPr>
        <p:spPr>
          <a:xfrm>
            <a:off x="640080" y="2286000"/>
            <a:ext cx="1920240" cy="402336"/>
          </a:xfrm>
          <a:prstGeom prst="roundRect">
            <a:avLst>
              <a:gd fmla="val 18182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1"/>
          <p:cNvSpPr txBox="1"/>
          <p:nvPr/>
        </p:nvSpPr>
        <p:spPr>
          <a:xfrm>
            <a:off x="731520" y="2286000"/>
            <a:ext cx="17373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Explore and Events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1"/>
          <p:cNvSpPr/>
          <p:nvPr/>
        </p:nvSpPr>
        <p:spPr>
          <a:xfrm>
            <a:off x="640080" y="2761488"/>
            <a:ext cx="1920240" cy="402336"/>
          </a:xfrm>
          <a:prstGeom prst="roundRect">
            <a:avLst>
              <a:gd fmla="val 18182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1"/>
          <p:cNvSpPr txBox="1"/>
          <p:nvPr/>
        </p:nvSpPr>
        <p:spPr>
          <a:xfrm>
            <a:off x="731520" y="2761488"/>
            <a:ext cx="17373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Club rooms and Messages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1"/>
          <p:cNvSpPr/>
          <p:nvPr/>
        </p:nvSpPr>
        <p:spPr>
          <a:xfrm>
            <a:off x="640080" y="3236976"/>
            <a:ext cx="1920240" cy="402336"/>
          </a:xfrm>
          <a:prstGeom prst="roundRect">
            <a:avLst>
              <a:gd fmla="val 18182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1"/>
          <p:cNvSpPr txBox="1"/>
          <p:nvPr/>
        </p:nvSpPr>
        <p:spPr>
          <a:xfrm>
            <a:off x="731520" y="3236976"/>
            <a:ext cx="17373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Profile and alerts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1"/>
          <p:cNvSpPr/>
          <p:nvPr/>
        </p:nvSpPr>
        <p:spPr>
          <a:xfrm>
            <a:off x="3108960" y="1325880"/>
            <a:ext cx="2926080" cy="2834640"/>
          </a:xfrm>
          <a:prstGeom prst="roundRect">
            <a:avLst>
              <a:gd fmla="val 387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1"/>
          <p:cNvSpPr txBox="1"/>
          <p:nvPr/>
        </p:nvSpPr>
        <p:spPr>
          <a:xfrm>
            <a:off x="3291840" y="141732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  Services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1"/>
          <p:cNvSpPr/>
          <p:nvPr/>
        </p:nvSpPr>
        <p:spPr>
          <a:xfrm>
            <a:off x="3291840" y="1810512"/>
            <a:ext cx="2560320" cy="402336"/>
          </a:xfrm>
          <a:prstGeom prst="roundRect">
            <a:avLst>
              <a:gd fmla="val 18182" name="adj"/>
            </a:avLst>
          </a:prstGeom>
          <a:solidFill>
            <a:schemeClr val="lt1"/>
          </a:solidFill>
          <a:ln cap="flat" cmpd="sng" w="1587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1"/>
          <p:cNvSpPr txBox="1"/>
          <p:nvPr/>
        </p:nvSpPr>
        <p:spPr>
          <a:xfrm>
            <a:off x="3383280" y="1810512"/>
            <a:ext cx="23774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Verified email login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1"/>
          <p:cNvSpPr/>
          <p:nvPr/>
        </p:nvSpPr>
        <p:spPr>
          <a:xfrm>
            <a:off x="3291840" y="2286000"/>
            <a:ext cx="2560320" cy="402336"/>
          </a:xfrm>
          <a:prstGeom prst="roundRect">
            <a:avLst>
              <a:gd fmla="val 18182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1"/>
          <p:cNvSpPr txBox="1"/>
          <p:nvPr/>
        </p:nvSpPr>
        <p:spPr>
          <a:xfrm>
            <a:off x="3383280" y="2286000"/>
            <a:ext cx="23774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Clubs and membership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1"/>
          <p:cNvSpPr/>
          <p:nvPr/>
        </p:nvSpPr>
        <p:spPr>
          <a:xfrm>
            <a:off x="3291840" y="2761488"/>
            <a:ext cx="2560320" cy="402336"/>
          </a:xfrm>
          <a:prstGeom prst="roundRect">
            <a:avLst>
              <a:gd fmla="val 18182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1"/>
          <p:cNvSpPr txBox="1"/>
          <p:nvPr/>
        </p:nvSpPr>
        <p:spPr>
          <a:xfrm>
            <a:off x="3383280" y="2761488"/>
            <a:ext cx="23774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Events and RSVP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1"/>
          <p:cNvSpPr/>
          <p:nvPr/>
        </p:nvSpPr>
        <p:spPr>
          <a:xfrm>
            <a:off x="3291840" y="3236976"/>
            <a:ext cx="2560320" cy="402336"/>
          </a:xfrm>
          <a:prstGeom prst="roundRect">
            <a:avLst>
              <a:gd fmla="val 18182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1"/>
          <p:cNvSpPr txBox="1"/>
          <p:nvPr/>
        </p:nvSpPr>
        <p:spPr>
          <a:xfrm>
            <a:off x="3383280" y="3236976"/>
            <a:ext cx="23774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Posts and club chat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1"/>
          <p:cNvSpPr/>
          <p:nvPr/>
        </p:nvSpPr>
        <p:spPr>
          <a:xfrm>
            <a:off x="3291840" y="3712464"/>
            <a:ext cx="2560320" cy="402336"/>
          </a:xfrm>
          <a:prstGeom prst="roundRect">
            <a:avLst>
              <a:gd fmla="val 18182" name="adj"/>
            </a:avLst>
          </a:prstGeom>
          <a:solidFill>
            <a:schemeClr val="lt1"/>
          </a:solidFill>
          <a:ln cap="flat" cmpd="sng" w="1587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1"/>
          <p:cNvSpPr txBox="1"/>
          <p:nvPr/>
        </p:nvSpPr>
        <p:spPr>
          <a:xfrm>
            <a:off x="3383280" y="3712464"/>
            <a:ext cx="23774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Live notifications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1"/>
          <p:cNvSpPr/>
          <p:nvPr/>
        </p:nvSpPr>
        <p:spPr>
          <a:xfrm>
            <a:off x="6400800" y="1325880"/>
            <a:ext cx="2286000" cy="2834640"/>
          </a:xfrm>
          <a:prstGeom prst="roundRect">
            <a:avLst>
              <a:gd fmla="val 48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1"/>
          <p:cNvSpPr txBox="1"/>
          <p:nvPr/>
        </p:nvSpPr>
        <p:spPr>
          <a:xfrm>
            <a:off x="6583680" y="141732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  Data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1"/>
          <p:cNvSpPr/>
          <p:nvPr/>
        </p:nvSpPr>
        <p:spPr>
          <a:xfrm>
            <a:off x="6583680" y="1810512"/>
            <a:ext cx="1920240" cy="502920"/>
          </a:xfrm>
          <a:prstGeom prst="roundRect">
            <a:avLst>
              <a:gd fmla="val 14545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1"/>
          <p:cNvSpPr txBox="1"/>
          <p:nvPr/>
        </p:nvSpPr>
        <p:spPr>
          <a:xfrm>
            <a:off x="6675120" y="1810512"/>
            <a:ext cx="1737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Browser storage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1"/>
          <p:cNvSpPr/>
          <p:nvPr/>
        </p:nvSpPr>
        <p:spPr>
          <a:xfrm>
            <a:off x="6583680" y="2423160"/>
            <a:ext cx="1920240" cy="502920"/>
          </a:xfrm>
          <a:prstGeom prst="roundRect">
            <a:avLst>
              <a:gd fmla="val 14545" name="adj"/>
            </a:avLst>
          </a:prstGeom>
          <a:solidFill>
            <a:schemeClr val="lt1"/>
          </a:solidFill>
          <a:ln cap="flat" cmpd="sng" w="1587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1"/>
          <p:cNvSpPr txBox="1"/>
          <p:nvPr/>
        </p:nvSpPr>
        <p:spPr>
          <a:xfrm>
            <a:off x="6675120" y="2423160"/>
            <a:ext cx="1737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Cloud database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1"/>
          <p:cNvSpPr/>
          <p:nvPr/>
        </p:nvSpPr>
        <p:spPr>
          <a:xfrm>
            <a:off x="2788920" y="2606040"/>
            <a:ext cx="274320" cy="32004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1"/>
          <p:cNvSpPr/>
          <p:nvPr/>
        </p:nvSpPr>
        <p:spPr>
          <a:xfrm>
            <a:off x="6080760" y="2606040"/>
            <a:ext cx="274320" cy="32004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1"/>
          <p:cNvSpPr/>
          <p:nvPr/>
        </p:nvSpPr>
        <p:spPr>
          <a:xfrm>
            <a:off x="457200" y="4315968"/>
            <a:ext cx="274320" cy="182880"/>
          </a:xfrm>
          <a:prstGeom prst="roundRect">
            <a:avLst>
              <a:gd fmla="val 25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1"/>
          <p:cNvSpPr txBox="1"/>
          <p:nvPr/>
        </p:nvSpPr>
        <p:spPr>
          <a:xfrm>
            <a:off x="822960" y="427024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Built in prototype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1"/>
          <p:cNvSpPr/>
          <p:nvPr/>
        </p:nvSpPr>
        <p:spPr>
          <a:xfrm>
            <a:off x="2743200" y="4315968"/>
            <a:ext cx="274320" cy="182880"/>
          </a:xfrm>
          <a:prstGeom prst="roundRect">
            <a:avLst>
              <a:gd fmla="val 25000" name="adj"/>
            </a:avLst>
          </a:prstGeom>
          <a:solidFill>
            <a:schemeClr val="lt1"/>
          </a:solidFill>
          <a:ln cap="flat" cmpd="sng" w="1587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1"/>
          <p:cNvSpPr txBox="1"/>
          <p:nvPr/>
        </p:nvSpPr>
        <p:spPr>
          <a:xfrm>
            <a:off x="3108960" y="4270248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Planned for the pilot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1"/>
          <p:cNvSpPr txBox="1"/>
          <p:nvPr>
            <p:ph idx="4294967295" type="sldNum"/>
          </p:nvPr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2"/>
          <p:cNvSpPr txBox="1"/>
          <p:nvPr/>
        </p:nvSpPr>
        <p:spPr>
          <a:xfrm>
            <a:off x="457200" y="256032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06  WORKFLOW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2"/>
          <p:cNvSpPr txBox="1"/>
          <p:nvPr>
            <p:ph type="title"/>
          </p:nvPr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1"/>
                </a:solidFill>
              </a:rPr>
              <a:t>From sign-in to the club room in five taps</a:t>
            </a:r>
            <a:endParaRPr sz="3000"/>
          </a:p>
        </p:txBody>
      </p:sp>
      <p:sp>
        <p:nvSpPr>
          <p:cNvPr id="202" name="Google Shape;202;p12"/>
          <p:cNvSpPr/>
          <p:nvPr/>
        </p:nvSpPr>
        <p:spPr>
          <a:xfrm>
            <a:off x="457200" y="1371600"/>
            <a:ext cx="1554480" cy="2423160"/>
          </a:xfrm>
          <a:prstGeom prst="roundRect">
            <a:avLst>
              <a:gd fmla="val 705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2"/>
          <p:cNvSpPr txBox="1"/>
          <p:nvPr/>
        </p:nvSpPr>
        <p:spPr>
          <a:xfrm>
            <a:off x="594360" y="148132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2"/>
          <p:cNvSpPr/>
          <p:nvPr/>
        </p:nvSpPr>
        <p:spPr>
          <a:xfrm>
            <a:off x="1005840" y="178308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5" name="Google Shape;20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0140" y="189738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2"/>
          <p:cNvSpPr txBox="1"/>
          <p:nvPr/>
        </p:nvSpPr>
        <p:spPr>
          <a:xfrm>
            <a:off x="548640" y="242316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Verified login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2"/>
          <p:cNvSpPr txBox="1"/>
          <p:nvPr/>
        </p:nvSpPr>
        <p:spPr>
          <a:xfrm>
            <a:off x="566928" y="2926080"/>
            <a:ext cx="1335024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Sign in with your college email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2"/>
          <p:cNvSpPr/>
          <p:nvPr/>
        </p:nvSpPr>
        <p:spPr>
          <a:xfrm>
            <a:off x="2020824" y="2468880"/>
            <a:ext cx="109728" cy="228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2"/>
          <p:cNvSpPr/>
          <p:nvPr/>
        </p:nvSpPr>
        <p:spPr>
          <a:xfrm>
            <a:off x="2125980" y="1371600"/>
            <a:ext cx="1554480" cy="2423160"/>
          </a:xfrm>
          <a:prstGeom prst="roundRect">
            <a:avLst>
              <a:gd fmla="val 705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2"/>
          <p:cNvSpPr txBox="1"/>
          <p:nvPr/>
        </p:nvSpPr>
        <p:spPr>
          <a:xfrm>
            <a:off x="2263140" y="148132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2"/>
          <p:cNvSpPr/>
          <p:nvPr/>
        </p:nvSpPr>
        <p:spPr>
          <a:xfrm>
            <a:off x="2674620" y="178308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2" name="Google Shape;21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88920" y="189738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2"/>
          <p:cNvSpPr txBox="1"/>
          <p:nvPr/>
        </p:nvSpPr>
        <p:spPr>
          <a:xfrm>
            <a:off x="2217420" y="242316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Discover clubs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2"/>
          <p:cNvSpPr txBox="1"/>
          <p:nvPr/>
        </p:nvSpPr>
        <p:spPr>
          <a:xfrm>
            <a:off x="2235708" y="2926080"/>
            <a:ext cx="1335024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Browse Explore and see who is live now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2"/>
          <p:cNvSpPr/>
          <p:nvPr/>
        </p:nvSpPr>
        <p:spPr>
          <a:xfrm>
            <a:off x="3689604" y="2468880"/>
            <a:ext cx="109728" cy="228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2"/>
          <p:cNvSpPr/>
          <p:nvPr/>
        </p:nvSpPr>
        <p:spPr>
          <a:xfrm>
            <a:off x="3794760" y="1371600"/>
            <a:ext cx="1554480" cy="2423160"/>
          </a:xfrm>
          <a:prstGeom prst="roundRect">
            <a:avLst>
              <a:gd fmla="val 705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2"/>
          <p:cNvSpPr txBox="1"/>
          <p:nvPr/>
        </p:nvSpPr>
        <p:spPr>
          <a:xfrm>
            <a:off x="3931920" y="148132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2"/>
          <p:cNvSpPr/>
          <p:nvPr/>
        </p:nvSpPr>
        <p:spPr>
          <a:xfrm>
            <a:off x="4343400" y="178308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9" name="Google Shape;219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57700" y="189738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2"/>
          <p:cNvSpPr txBox="1"/>
          <p:nvPr/>
        </p:nvSpPr>
        <p:spPr>
          <a:xfrm>
            <a:off x="3886200" y="242316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Join in one tap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2"/>
          <p:cNvSpPr txBox="1"/>
          <p:nvPr/>
        </p:nvSpPr>
        <p:spPr>
          <a:xfrm>
            <a:off x="3904488" y="2926080"/>
            <a:ext cx="1335024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Become a member instantly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2"/>
          <p:cNvSpPr/>
          <p:nvPr/>
        </p:nvSpPr>
        <p:spPr>
          <a:xfrm>
            <a:off x="5358384" y="2468880"/>
            <a:ext cx="109728" cy="228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2"/>
          <p:cNvSpPr/>
          <p:nvPr/>
        </p:nvSpPr>
        <p:spPr>
          <a:xfrm>
            <a:off x="5463540" y="1371600"/>
            <a:ext cx="1554480" cy="2423160"/>
          </a:xfrm>
          <a:prstGeom prst="roundRect">
            <a:avLst>
              <a:gd fmla="val 705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2"/>
          <p:cNvSpPr txBox="1"/>
          <p:nvPr/>
        </p:nvSpPr>
        <p:spPr>
          <a:xfrm>
            <a:off x="5600700" y="148132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2"/>
          <p:cNvSpPr/>
          <p:nvPr/>
        </p:nvSpPr>
        <p:spPr>
          <a:xfrm>
            <a:off x="6012180" y="178308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6" name="Google Shape;226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26480" y="189738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12"/>
          <p:cNvSpPr txBox="1"/>
          <p:nvPr/>
        </p:nvSpPr>
        <p:spPr>
          <a:xfrm>
            <a:off x="5554980" y="242316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Events and RSVP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2"/>
          <p:cNvSpPr txBox="1"/>
          <p:nvPr/>
        </p:nvSpPr>
        <p:spPr>
          <a:xfrm>
            <a:off x="5573268" y="2926080"/>
            <a:ext cx="1335024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See what is next and save your spot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2"/>
          <p:cNvSpPr/>
          <p:nvPr/>
        </p:nvSpPr>
        <p:spPr>
          <a:xfrm>
            <a:off x="7027164" y="2468880"/>
            <a:ext cx="109728" cy="228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2"/>
          <p:cNvSpPr/>
          <p:nvPr/>
        </p:nvSpPr>
        <p:spPr>
          <a:xfrm>
            <a:off x="7132320" y="1371600"/>
            <a:ext cx="1554480" cy="2423160"/>
          </a:xfrm>
          <a:prstGeom prst="roundRect">
            <a:avLst>
              <a:gd fmla="val 705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2"/>
          <p:cNvSpPr txBox="1"/>
          <p:nvPr/>
        </p:nvSpPr>
        <p:spPr>
          <a:xfrm>
            <a:off x="7269480" y="148132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2"/>
          <p:cNvSpPr/>
          <p:nvPr/>
        </p:nvSpPr>
        <p:spPr>
          <a:xfrm>
            <a:off x="7680960" y="178308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3" name="Google Shape;233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95260" y="189738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12"/>
          <p:cNvSpPr txBox="1"/>
          <p:nvPr/>
        </p:nvSpPr>
        <p:spPr>
          <a:xfrm>
            <a:off x="7223760" y="242316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Post and chat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2"/>
          <p:cNvSpPr txBox="1"/>
          <p:nvPr/>
        </p:nvSpPr>
        <p:spPr>
          <a:xfrm>
            <a:off x="7242048" y="2926080"/>
            <a:ext cx="1335024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Take part in the club room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2"/>
          <p:cNvSpPr/>
          <p:nvPr/>
        </p:nvSpPr>
        <p:spPr>
          <a:xfrm>
            <a:off x="457200" y="4023360"/>
            <a:ext cx="8229600" cy="54864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2"/>
          <p:cNvSpPr txBox="1"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 links to forward and nothing to hunt for: every step starts on the Home screen.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2"/>
          <p:cNvSpPr txBox="1"/>
          <p:nvPr>
            <p:ph idx="4294967295" type="sldNum"/>
          </p:nvPr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3"/>
          <p:cNvSpPr txBox="1"/>
          <p:nvPr/>
        </p:nvSpPr>
        <p:spPr>
          <a:xfrm>
            <a:off x="457200" y="256032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07  TECHNOLOGY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3"/>
          <p:cNvSpPr txBox="1"/>
          <p:nvPr>
            <p:ph type="title"/>
          </p:nvPr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1"/>
                </a:solidFill>
              </a:rPr>
              <a:t>Technology stack and implementation</a:t>
            </a:r>
            <a:endParaRPr sz="3000"/>
          </a:p>
        </p:txBody>
      </p:sp>
      <p:sp>
        <p:nvSpPr>
          <p:cNvPr id="246" name="Google Shape;246;p13"/>
          <p:cNvSpPr/>
          <p:nvPr/>
        </p:nvSpPr>
        <p:spPr>
          <a:xfrm>
            <a:off x="457200" y="1325880"/>
            <a:ext cx="4046220" cy="3246120"/>
          </a:xfrm>
          <a:prstGeom prst="roundRect">
            <a:avLst>
              <a:gd fmla="val 338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3"/>
          <p:cNvSpPr txBox="1"/>
          <p:nvPr/>
        </p:nvSpPr>
        <p:spPr>
          <a:xfrm>
            <a:off x="685800" y="146304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Built in the prototype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3"/>
          <p:cNvSpPr/>
          <p:nvPr/>
        </p:nvSpPr>
        <p:spPr>
          <a:xfrm>
            <a:off x="685800" y="1965960"/>
            <a:ext cx="411480" cy="4114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9" name="Google Shape;24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8670" y="2068830"/>
            <a:ext cx="205740" cy="20574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13"/>
          <p:cNvSpPr txBox="1"/>
          <p:nvPr/>
        </p:nvSpPr>
        <p:spPr>
          <a:xfrm>
            <a:off x="1280160" y="1920240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HTML5 and CSS3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3"/>
          <p:cNvSpPr txBox="1"/>
          <p:nvPr/>
        </p:nvSpPr>
        <p:spPr>
          <a:xfrm>
            <a:off x="1280160" y="2194560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Mobile-first layout with light and dark themes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3"/>
          <p:cNvSpPr/>
          <p:nvPr/>
        </p:nvSpPr>
        <p:spPr>
          <a:xfrm>
            <a:off x="685800" y="2624328"/>
            <a:ext cx="411480" cy="4114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3" name="Google Shape;253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8670" y="2727198"/>
            <a:ext cx="205740" cy="20574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3"/>
          <p:cNvSpPr txBox="1"/>
          <p:nvPr/>
        </p:nvSpPr>
        <p:spPr>
          <a:xfrm>
            <a:off x="1280160" y="2578608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Vanilla JavaScript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3"/>
          <p:cNvSpPr txBox="1"/>
          <p:nvPr/>
        </p:nvSpPr>
        <p:spPr>
          <a:xfrm>
            <a:off x="1280160" y="2852928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Single-page navigation, state and rendering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3"/>
          <p:cNvSpPr/>
          <p:nvPr/>
        </p:nvSpPr>
        <p:spPr>
          <a:xfrm>
            <a:off x="685800" y="3282696"/>
            <a:ext cx="411480" cy="4114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7" name="Google Shape;257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8670" y="3385566"/>
            <a:ext cx="205740" cy="20574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13"/>
          <p:cNvSpPr txBox="1"/>
          <p:nvPr/>
        </p:nvSpPr>
        <p:spPr>
          <a:xfrm>
            <a:off x="1280160" y="3236976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Browser storage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3"/>
          <p:cNvSpPr txBox="1"/>
          <p:nvPr/>
        </p:nvSpPr>
        <p:spPr>
          <a:xfrm>
            <a:off x="1280160" y="3511296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Keeps joins, RSVPs and posts between visits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3"/>
          <p:cNvSpPr/>
          <p:nvPr/>
        </p:nvSpPr>
        <p:spPr>
          <a:xfrm>
            <a:off x="685800" y="3941064"/>
            <a:ext cx="411480" cy="4114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1" name="Google Shape;261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8670" y="4043934"/>
            <a:ext cx="205740" cy="20574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13"/>
          <p:cNvSpPr txBox="1"/>
          <p:nvPr/>
        </p:nvSpPr>
        <p:spPr>
          <a:xfrm>
            <a:off x="1280160" y="3895344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In-app alerts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3"/>
          <p:cNvSpPr txBox="1"/>
          <p:nvPr/>
        </p:nvSpPr>
        <p:spPr>
          <a:xfrm>
            <a:off x="1280160" y="4169664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Notification panel and unread badges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3"/>
          <p:cNvSpPr/>
          <p:nvPr/>
        </p:nvSpPr>
        <p:spPr>
          <a:xfrm>
            <a:off x="4640580" y="1325880"/>
            <a:ext cx="4046220" cy="3246120"/>
          </a:xfrm>
          <a:prstGeom prst="roundRect">
            <a:avLst>
              <a:gd fmla="val 338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3"/>
          <p:cNvSpPr txBox="1"/>
          <p:nvPr/>
        </p:nvSpPr>
        <p:spPr>
          <a:xfrm>
            <a:off x="4869180" y="146304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Planned for the pilot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3"/>
          <p:cNvSpPr/>
          <p:nvPr/>
        </p:nvSpPr>
        <p:spPr>
          <a:xfrm>
            <a:off x="4869180" y="1965960"/>
            <a:ext cx="411480" cy="41148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7" name="Google Shape;267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72050" y="2068830"/>
            <a:ext cx="205740" cy="20574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3"/>
          <p:cNvSpPr txBox="1"/>
          <p:nvPr/>
        </p:nvSpPr>
        <p:spPr>
          <a:xfrm>
            <a:off x="5463540" y="1920240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College-email auth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3"/>
          <p:cNvSpPr txBox="1"/>
          <p:nvPr/>
        </p:nvSpPr>
        <p:spPr>
          <a:xfrm>
            <a:off x="5463540" y="2194560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Domain-restricted, verified sign-in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3"/>
          <p:cNvSpPr/>
          <p:nvPr/>
        </p:nvSpPr>
        <p:spPr>
          <a:xfrm>
            <a:off x="4869180" y="2624328"/>
            <a:ext cx="411480" cy="41148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1" name="Google Shape;271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72050" y="2727198"/>
            <a:ext cx="205740" cy="20574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13"/>
          <p:cNvSpPr txBox="1"/>
          <p:nvPr/>
        </p:nvSpPr>
        <p:spPr>
          <a:xfrm>
            <a:off x="5463540" y="2578608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Cloud database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3"/>
          <p:cNvSpPr txBox="1"/>
          <p:nvPr/>
        </p:nvSpPr>
        <p:spPr>
          <a:xfrm>
            <a:off x="5463540" y="2852928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Shared data for clubs and members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3"/>
          <p:cNvSpPr/>
          <p:nvPr/>
        </p:nvSpPr>
        <p:spPr>
          <a:xfrm>
            <a:off x="4869180" y="3282696"/>
            <a:ext cx="411480" cy="41148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5" name="Google Shape;275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72050" y="3385566"/>
            <a:ext cx="205740" cy="20574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13"/>
          <p:cNvSpPr txBox="1"/>
          <p:nvPr/>
        </p:nvSpPr>
        <p:spPr>
          <a:xfrm>
            <a:off x="5463540" y="3236976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Live notifications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3"/>
          <p:cNvSpPr txBox="1"/>
          <p:nvPr/>
        </p:nvSpPr>
        <p:spPr>
          <a:xfrm>
            <a:off x="5463540" y="3511296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Real-time push for new posts and events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3"/>
          <p:cNvSpPr/>
          <p:nvPr/>
        </p:nvSpPr>
        <p:spPr>
          <a:xfrm>
            <a:off x="4869180" y="3941064"/>
            <a:ext cx="411480" cy="41148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9" name="Google Shape;279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972050" y="4043934"/>
            <a:ext cx="205740" cy="20574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13"/>
          <p:cNvSpPr txBox="1"/>
          <p:nvPr/>
        </p:nvSpPr>
        <p:spPr>
          <a:xfrm>
            <a:off x="5463540" y="3895344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Roles and moderation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3"/>
          <p:cNvSpPr txBox="1"/>
          <p:nvPr/>
        </p:nvSpPr>
        <p:spPr>
          <a:xfrm>
            <a:off x="5463540" y="4169664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Club admins and reviewed reports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3"/>
          <p:cNvSpPr txBox="1"/>
          <p:nvPr>
            <p:ph idx="4294967295" type="sldNum"/>
          </p:nvPr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4"/>
          <p:cNvSpPr txBox="1"/>
          <p:nvPr/>
        </p:nvSpPr>
        <p:spPr>
          <a:xfrm>
            <a:off x="457200" y="256032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08  PROTOTYPE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4"/>
          <p:cNvSpPr txBox="1"/>
          <p:nvPr>
            <p:ph type="title"/>
          </p:nvPr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lt1"/>
                </a:solidFill>
              </a:rPr>
              <a:t>A working prototype you can click through</a:t>
            </a:r>
            <a:endParaRPr sz="3000"/>
          </a:p>
        </p:txBody>
      </p:sp>
      <p:sp>
        <p:nvSpPr>
          <p:cNvPr id="290" name="Google Shape;290;p14"/>
          <p:cNvSpPr/>
          <p:nvPr/>
        </p:nvSpPr>
        <p:spPr>
          <a:xfrm>
            <a:off x="393192" y="1216152"/>
            <a:ext cx="1499616" cy="2871216"/>
          </a:xfrm>
          <a:prstGeom prst="roundRect">
            <a:avLst>
              <a:gd fmla="val 7317" name="adj"/>
            </a:avLst>
          </a:prstGeom>
          <a:solidFill>
            <a:schemeClr val="accent1"/>
          </a:solidFill>
          <a:ln>
            <a:noFill/>
          </a:ln>
          <a:effectLst>
            <a:outerShdw blurRad="101600" rotWithShape="0" algn="bl" dir="5400000" dist="25400">
              <a:srgbClr val="000000">
                <a:alpha val="1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ampusHub prototype screen: home" id="291" name="Google Shape;2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280160"/>
            <a:ext cx="13716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14"/>
          <p:cNvSpPr txBox="1"/>
          <p:nvPr/>
        </p:nvSpPr>
        <p:spPr>
          <a:xfrm>
            <a:off x="320040" y="4160520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Home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4"/>
          <p:cNvSpPr txBox="1"/>
          <p:nvPr/>
        </p:nvSpPr>
        <p:spPr>
          <a:xfrm>
            <a:off x="320040" y="4407408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Today on campus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4"/>
          <p:cNvSpPr/>
          <p:nvPr/>
        </p:nvSpPr>
        <p:spPr>
          <a:xfrm>
            <a:off x="2107692" y="1216152"/>
            <a:ext cx="1499616" cy="2871216"/>
          </a:xfrm>
          <a:prstGeom prst="roundRect">
            <a:avLst>
              <a:gd fmla="val 7317" name="adj"/>
            </a:avLst>
          </a:prstGeom>
          <a:solidFill>
            <a:schemeClr val="accent1"/>
          </a:solidFill>
          <a:ln>
            <a:noFill/>
          </a:ln>
          <a:effectLst>
            <a:outerShdw blurRad="101600" rotWithShape="0" algn="bl" dir="5400000" dist="25400">
              <a:srgbClr val="000000">
                <a:alpha val="1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ampusHub prototype screen: explore" id="295" name="Google Shape;2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71700" y="1280160"/>
            <a:ext cx="13716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14"/>
          <p:cNvSpPr txBox="1"/>
          <p:nvPr/>
        </p:nvSpPr>
        <p:spPr>
          <a:xfrm>
            <a:off x="2034540" y="4160520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Explore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4"/>
          <p:cNvSpPr txBox="1"/>
          <p:nvPr/>
        </p:nvSpPr>
        <p:spPr>
          <a:xfrm>
            <a:off x="2034540" y="4407408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Join in one tap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4"/>
          <p:cNvSpPr/>
          <p:nvPr/>
        </p:nvSpPr>
        <p:spPr>
          <a:xfrm>
            <a:off x="3822192" y="1216152"/>
            <a:ext cx="1499616" cy="2871216"/>
          </a:xfrm>
          <a:prstGeom prst="roundRect">
            <a:avLst>
              <a:gd fmla="val 7317" name="adj"/>
            </a:avLst>
          </a:prstGeom>
          <a:solidFill>
            <a:schemeClr val="accent1"/>
          </a:solidFill>
          <a:ln>
            <a:noFill/>
          </a:ln>
          <a:effectLst>
            <a:outerShdw blurRad="101600" rotWithShape="0" algn="bl" dir="5400000" dist="25400">
              <a:srgbClr val="000000">
                <a:alpha val="1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ampusHub prototype screen: events" id="299" name="Google Shape;29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86200" y="1280160"/>
            <a:ext cx="13716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14"/>
          <p:cNvSpPr txBox="1"/>
          <p:nvPr/>
        </p:nvSpPr>
        <p:spPr>
          <a:xfrm>
            <a:off x="3749040" y="4160520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Events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4"/>
          <p:cNvSpPr txBox="1"/>
          <p:nvPr/>
        </p:nvSpPr>
        <p:spPr>
          <a:xfrm>
            <a:off x="3749040" y="4407408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RSVP with one tap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4"/>
          <p:cNvSpPr/>
          <p:nvPr/>
        </p:nvSpPr>
        <p:spPr>
          <a:xfrm>
            <a:off x="5536692" y="1216152"/>
            <a:ext cx="1499616" cy="2871216"/>
          </a:xfrm>
          <a:prstGeom prst="roundRect">
            <a:avLst>
              <a:gd fmla="val 7317" name="adj"/>
            </a:avLst>
          </a:prstGeom>
          <a:solidFill>
            <a:schemeClr val="accent1"/>
          </a:solidFill>
          <a:ln>
            <a:noFill/>
          </a:ln>
          <a:effectLst>
            <a:outerShdw blurRad="101600" rotWithShape="0" algn="bl" dir="5400000" dist="25400">
              <a:srgbClr val="000000">
                <a:alpha val="1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ampusHub prototype screen: stage" id="303" name="Google Shape;303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600700" y="1280160"/>
            <a:ext cx="13716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14"/>
          <p:cNvSpPr txBox="1"/>
          <p:nvPr/>
        </p:nvSpPr>
        <p:spPr>
          <a:xfrm>
            <a:off x="5463540" y="4160520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Stage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4"/>
          <p:cNvSpPr txBox="1"/>
          <p:nvPr/>
        </p:nvSpPr>
        <p:spPr>
          <a:xfrm>
            <a:off x="5463540" y="4407408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Public club feed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4"/>
          <p:cNvSpPr/>
          <p:nvPr/>
        </p:nvSpPr>
        <p:spPr>
          <a:xfrm>
            <a:off x="7251192" y="1216152"/>
            <a:ext cx="1499616" cy="2871216"/>
          </a:xfrm>
          <a:prstGeom prst="roundRect">
            <a:avLst>
              <a:gd fmla="val 7317" name="adj"/>
            </a:avLst>
          </a:prstGeom>
          <a:solidFill>
            <a:schemeClr val="accent1"/>
          </a:solidFill>
          <a:ln>
            <a:noFill/>
          </a:ln>
          <a:effectLst>
            <a:outerShdw blurRad="101600" rotWithShape="0" algn="bl" dir="5400000" dist="25400">
              <a:srgbClr val="000000">
                <a:alpha val="1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ampusHub prototype screen: backstage" id="307" name="Google Shape;307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315200" y="1280160"/>
            <a:ext cx="13716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14"/>
          <p:cNvSpPr txBox="1"/>
          <p:nvPr/>
        </p:nvSpPr>
        <p:spPr>
          <a:xfrm>
            <a:off x="7178040" y="4160520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Backstage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4"/>
          <p:cNvSpPr txBox="1"/>
          <p:nvPr/>
        </p:nvSpPr>
        <p:spPr>
          <a:xfrm>
            <a:off x="7178040" y="4407408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Tasks and member chat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4"/>
          <p:cNvSpPr txBox="1"/>
          <p:nvPr>
            <p:ph idx="4294967295" type="sldNum"/>
          </p:nvPr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5"/>
          <p:cNvSpPr txBox="1"/>
          <p:nvPr/>
        </p:nvSpPr>
        <p:spPr>
          <a:xfrm>
            <a:off x="457200" y="256032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09  INNOVATION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5"/>
          <p:cNvSpPr txBox="1"/>
          <p:nvPr>
            <p:ph type="title"/>
          </p:nvPr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1"/>
                </a:solidFill>
              </a:rPr>
              <a:t>Why CampusHub is different</a:t>
            </a:r>
            <a:endParaRPr sz="3000"/>
          </a:p>
        </p:txBody>
      </p:sp>
      <p:graphicFrame>
        <p:nvGraphicFramePr>
          <p:cNvPr id="318" name="Google Shape;318;p15"/>
          <p:cNvGraphicFramePr/>
          <p:nvPr/>
        </p:nvGraphicFramePr>
        <p:xfrm>
          <a:off x="457200" y="13258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{69161117-FD64-478C-8F54-285EB3AD439A}</a:tableStyleId>
              </a:tblPr>
              <a:tblGrid>
                <a:gridCol w="3017525"/>
                <a:gridCol w="1737350"/>
                <a:gridCol w="1737350"/>
                <a:gridCol w="173735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0" marB="0" marR="109725" marL="1097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</a:rPr>
                        <a:t>CampusHub</a:t>
                      </a:r>
                      <a:endParaRPr sz="1400" u="none" cap="none" strike="noStrike"/>
                    </a:p>
                  </a:txBody>
                  <a:tcPr marT="0" marB="0" marR="109725" marL="1097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</a:rPr>
                        <a:t>WhatsApp</a:t>
                      </a:r>
                      <a:endParaRPr sz="1400" u="none" cap="none" strike="noStrike"/>
                    </a:p>
                  </a:txBody>
                  <a:tcPr marT="0" marB="0" marR="109725" marL="1097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</a:rPr>
                        <a:t>Instagram</a:t>
                      </a:r>
                      <a:endParaRPr sz="1400" u="none" cap="none" strike="noStrike"/>
                    </a:p>
                  </a:txBody>
                  <a:tcPr marT="0" marB="0" marR="109725" marL="1097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dk1"/>
                          </a:solidFill>
                        </a:rPr>
                        <a:t>Verified students only</a:t>
                      </a:r>
                      <a:endParaRPr sz="1400" u="none" cap="none" strike="noStrike"/>
                    </a:p>
                  </a:txBody>
                  <a:tcPr marT="0" marB="0" marR="109725" marL="1097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dk1"/>
                          </a:solidFill>
                        </a:rPr>
                        <a:t>Yes</a:t>
                      </a:r>
                      <a:endParaRPr sz="1300" u="none" cap="none" strike="noStrike"/>
                    </a:p>
                  </a:txBody>
                  <a:tcPr marT="0" marB="0" marR="109725" marL="1097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dk1"/>
                          </a:solidFill>
                        </a:rPr>
                        <a:t>No</a:t>
                      </a:r>
                      <a:endParaRPr sz="1300" u="none" cap="none" strike="noStrike"/>
                    </a:p>
                  </a:txBody>
                  <a:tcPr marT="0" marB="0" marR="109725" marL="1097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dk1"/>
                          </a:solidFill>
                        </a:rPr>
                        <a:t>No</a:t>
                      </a:r>
                      <a:endParaRPr sz="1300" u="none" cap="none" strike="noStrike"/>
                    </a:p>
                  </a:txBody>
                  <a:tcPr marT="0" marB="0" marR="109725" marL="1097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dk1"/>
                          </a:solidFill>
                        </a:rPr>
                        <a:t>Event discovery in one place</a:t>
                      </a:r>
                      <a:endParaRPr sz="1400" u="none" cap="none" strike="noStrike"/>
                    </a:p>
                  </a:txBody>
                  <a:tcPr marT="0" marB="0" marR="109725" marL="1097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dk1"/>
                          </a:solidFill>
                        </a:rPr>
                        <a:t>Yes</a:t>
                      </a:r>
                      <a:endParaRPr sz="1300" u="none" cap="none" strike="noStrike"/>
                    </a:p>
                  </a:txBody>
                  <a:tcPr marT="0" marB="0" marR="109725" marL="1097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dk1"/>
                          </a:solidFill>
                        </a:rPr>
                        <a:t>No</a:t>
                      </a:r>
                      <a:endParaRPr sz="1300" u="none" cap="none" strike="noStrike"/>
                    </a:p>
                  </a:txBody>
                  <a:tcPr marT="0" marB="0" marR="109725" marL="1097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dk1"/>
                          </a:solidFill>
                        </a:rPr>
                        <a:t>Partial</a:t>
                      </a:r>
                      <a:endParaRPr sz="1300" u="none" cap="none" strike="noStrike"/>
                    </a:p>
                  </a:txBody>
                  <a:tcPr marT="0" marB="0" marR="109725" marL="1097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dk1"/>
                          </a:solidFill>
                        </a:rPr>
                        <a:t>Club rooms with public and private areas</a:t>
                      </a:r>
                      <a:endParaRPr sz="1400" u="none" cap="none" strike="noStrike"/>
                    </a:p>
                  </a:txBody>
                  <a:tcPr marT="0" marB="0" marR="109725" marL="1097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dk1"/>
                          </a:solidFill>
                        </a:rPr>
                        <a:t>Yes</a:t>
                      </a:r>
                      <a:endParaRPr sz="1300" u="none" cap="none" strike="noStrike"/>
                    </a:p>
                  </a:txBody>
                  <a:tcPr marT="0" marB="0" marR="109725" marL="1097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dk1"/>
                          </a:solidFill>
                        </a:rPr>
                        <a:t>Partial</a:t>
                      </a:r>
                      <a:endParaRPr sz="1300" u="none" cap="none" strike="noStrike"/>
                    </a:p>
                  </a:txBody>
                  <a:tcPr marT="0" marB="0" marR="109725" marL="1097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dk1"/>
                          </a:solidFill>
                        </a:rPr>
                        <a:t>No</a:t>
                      </a:r>
                      <a:endParaRPr sz="1300" u="none" cap="none" strike="noStrike"/>
                    </a:p>
                  </a:txBody>
                  <a:tcPr marT="0" marB="0" marR="109725" marL="1097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dk1"/>
                          </a:solidFill>
                        </a:rPr>
                        <a:t>Fake links reduced</a:t>
                      </a:r>
                      <a:endParaRPr sz="1400" u="none" cap="none" strike="noStrike"/>
                    </a:p>
                  </a:txBody>
                  <a:tcPr marT="0" marB="0" marR="109725" marL="1097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dk1"/>
                          </a:solidFill>
                        </a:rPr>
                        <a:t>Yes</a:t>
                      </a:r>
                      <a:endParaRPr sz="1300" u="none" cap="none" strike="noStrike"/>
                    </a:p>
                  </a:txBody>
                  <a:tcPr marT="0" marB="0" marR="109725" marL="1097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dk1"/>
                          </a:solidFill>
                        </a:rPr>
                        <a:t>No</a:t>
                      </a:r>
                      <a:endParaRPr sz="1300" u="none" cap="none" strike="noStrike"/>
                    </a:p>
                  </a:txBody>
                  <a:tcPr marT="0" marB="0" marR="109725" marL="1097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dk1"/>
                          </a:solidFill>
                        </a:rPr>
                        <a:t>No</a:t>
                      </a:r>
                      <a:endParaRPr sz="1300" u="none" cap="none" strike="noStrike"/>
                    </a:p>
                  </a:txBody>
                  <a:tcPr marT="0" marB="0" marR="109725" marL="1097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</a:tbl>
          </a:graphicData>
        </a:graphic>
      </p:graphicFrame>
      <p:sp>
        <p:nvSpPr>
          <p:cNvPr id="319" name="Google Shape;319;p15"/>
          <p:cNvSpPr/>
          <p:nvPr/>
        </p:nvSpPr>
        <p:spPr>
          <a:xfrm>
            <a:off x="457200" y="4114800"/>
            <a:ext cx="8229600" cy="457200"/>
          </a:xfrm>
          <a:prstGeom prst="roundRect">
            <a:avLst>
              <a:gd fmla="val 2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5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Not another chat group: a verified layer built for how clubs actually work.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5"/>
          <p:cNvSpPr txBox="1"/>
          <p:nvPr>
            <p:ph idx="4294967295" type="sldNum"/>
          </p:nvPr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6"/>
          <p:cNvSpPr txBox="1"/>
          <p:nvPr/>
        </p:nvSpPr>
        <p:spPr>
          <a:xfrm>
            <a:off x="457200" y="256032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10  FEASIBILITY, IMPACT, SCALE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6"/>
          <p:cNvSpPr txBox="1"/>
          <p:nvPr>
            <p:ph type="title"/>
          </p:nvPr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1"/>
                </a:solidFill>
              </a:rPr>
              <a:t>Feasible now, valuable to everyone</a:t>
            </a:r>
            <a:endParaRPr sz="3000"/>
          </a:p>
        </p:txBody>
      </p:sp>
      <p:sp>
        <p:nvSpPr>
          <p:cNvPr id="329" name="Google Shape;329;p16"/>
          <p:cNvSpPr/>
          <p:nvPr/>
        </p:nvSpPr>
        <p:spPr>
          <a:xfrm>
            <a:off x="457200" y="1325880"/>
            <a:ext cx="2651760" cy="2514600"/>
          </a:xfrm>
          <a:prstGeom prst="roundRect">
            <a:avLst>
              <a:gd fmla="val 436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6"/>
          <p:cNvSpPr/>
          <p:nvPr/>
        </p:nvSpPr>
        <p:spPr>
          <a:xfrm>
            <a:off x="640080" y="150876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1" name="Google Shape;33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4380" y="162306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16"/>
          <p:cNvSpPr txBox="1"/>
          <p:nvPr/>
        </p:nvSpPr>
        <p:spPr>
          <a:xfrm>
            <a:off x="1234440" y="150876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Feasible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6"/>
          <p:cNvSpPr txBox="1"/>
          <p:nvPr/>
        </p:nvSpPr>
        <p:spPr>
          <a:xfrm>
            <a:off x="640080" y="2103120"/>
            <a:ext cx="22860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 working prototype already exists. Real login and a database are the main build, and the pilot starts small with 5 clubs.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6"/>
          <p:cNvSpPr/>
          <p:nvPr/>
        </p:nvSpPr>
        <p:spPr>
          <a:xfrm>
            <a:off x="3246120" y="1325880"/>
            <a:ext cx="2651760" cy="2514600"/>
          </a:xfrm>
          <a:prstGeom prst="roundRect">
            <a:avLst>
              <a:gd fmla="val 436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6"/>
          <p:cNvSpPr/>
          <p:nvPr/>
        </p:nvSpPr>
        <p:spPr>
          <a:xfrm>
            <a:off x="3429000" y="150876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6" name="Google Shape;33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3300" y="162306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16"/>
          <p:cNvSpPr txBox="1"/>
          <p:nvPr/>
        </p:nvSpPr>
        <p:spPr>
          <a:xfrm>
            <a:off x="4023360" y="150876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Impact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6"/>
          <p:cNvSpPr txBox="1"/>
          <p:nvPr/>
        </p:nvSpPr>
        <p:spPr>
          <a:xfrm>
            <a:off x="3429000" y="2103120"/>
            <a:ext cx="22860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Students stop missing events, clubs reach members in one place, and the college gets one trusted channel.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6"/>
          <p:cNvSpPr/>
          <p:nvPr/>
        </p:nvSpPr>
        <p:spPr>
          <a:xfrm>
            <a:off x="6035040" y="1325880"/>
            <a:ext cx="2651760" cy="2514600"/>
          </a:xfrm>
          <a:prstGeom prst="roundRect">
            <a:avLst>
              <a:gd fmla="val 436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6"/>
          <p:cNvSpPr/>
          <p:nvPr/>
        </p:nvSpPr>
        <p:spPr>
          <a:xfrm>
            <a:off x="6217920" y="150876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1" name="Google Shape;34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2220" y="162306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16"/>
          <p:cNvSpPr txBox="1"/>
          <p:nvPr/>
        </p:nvSpPr>
        <p:spPr>
          <a:xfrm>
            <a:off x="6812280" y="150876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Scalable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6"/>
          <p:cNvSpPr txBox="1"/>
          <p:nvPr/>
        </p:nvSpPr>
        <p:spPr>
          <a:xfrm>
            <a:off x="6217920" y="2103120"/>
            <a:ext cx="22860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The verified-domain model repeats for any club, department or college, with no redesign needed.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6"/>
          <p:cNvSpPr/>
          <p:nvPr/>
        </p:nvSpPr>
        <p:spPr>
          <a:xfrm>
            <a:off x="457200" y="4023360"/>
            <a:ext cx="2468880" cy="54864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6"/>
          <p:cNvSpPr txBox="1"/>
          <p:nvPr/>
        </p:nvSpPr>
        <p:spPr>
          <a:xfrm>
            <a:off x="457200" y="4023360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 clubs at SECE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6"/>
          <p:cNvSpPr/>
          <p:nvPr/>
        </p:nvSpPr>
        <p:spPr>
          <a:xfrm>
            <a:off x="3035808" y="4187952"/>
            <a:ext cx="274320" cy="219456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6"/>
          <p:cNvSpPr/>
          <p:nvPr/>
        </p:nvSpPr>
        <p:spPr>
          <a:xfrm>
            <a:off x="3337560" y="4023360"/>
            <a:ext cx="2468880" cy="54864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6"/>
          <p:cNvSpPr txBox="1"/>
          <p:nvPr/>
        </p:nvSpPr>
        <p:spPr>
          <a:xfrm>
            <a:off x="3337560" y="4023360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SECE clubs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6"/>
          <p:cNvSpPr/>
          <p:nvPr/>
        </p:nvSpPr>
        <p:spPr>
          <a:xfrm>
            <a:off x="5916168" y="4187952"/>
            <a:ext cx="274320" cy="219456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6"/>
          <p:cNvSpPr/>
          <p:nvPr/>
        </p:nvSpPr>
        <p:spPr>
          <a:xfrm>
            <a:off x="6217920" y="4023360"/>
            <a:ext cx="2468880" cy="54864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6"/>
          <p:cNvSpPr txBox="1"/>
          <p:nvPr/>
        </p:nvSpPr>
        <p:spPr>
          <a:xfrm>
            <a:off x="6217920" y="4023360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Other colleges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6"/>
          <p:cNvSpPr txBox="1"/>
          <p:nvPr>
            <p:ph idx="4294967295" type="sldNum"/>
          </p:nvPr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7"/>
          <p:cNvSpPr txBox="1"/>
          <p:nvPr/>
        </p:nvSpPr>
        <p:spPr>
          <a:xfrm>
            <a:off x="457200" y="256032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11  STATUS AND ROADMAP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7"/>
          <p:cNvSpPr txBox="1"/>
          <p:nvPr>
            <p:ph type="title"/>
          </p:nvPr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1"/>
                </a:solidFill>
              </a:rPr>
              <a:t>Where we are and what comes next</a:t>
            </a:r>
            <a:endParaRPr sz="3000"/>
          </a:p>
        </p:txBody>
      </p:sp>
      <p:sp>
        <p:nvSpPr>
          <p:cNvPr id="360" name="Google Shape;360;p17"/>
          <p:cNvSpPr/>
          <p:nvPr/>
        </p:nvSpPr>
        <p:spPr>
          <a:xfrm>
            <a:off x="457200" y="1325880"/>
            <a:ext cx="3566160" cy="3246120"/>
          </a:xfrm>
          <a:prstGeom prst="roundRect">
            <a:avLst>
              <a:gd fmla="val 338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7"/>
          <p:cNvSpPr txBox="1"/>
          <p:nvPr/>
        </p:nvSpPr>
        <p:spPr>
          <a:xfrm>
            <a:off x="685800" y="146304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Working today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7"/>
          <p:cNvSpPr/>
          <p:nvPr/>
        </p:nvSpPr>
        <p:spPr>
          <a:xfrm>
            <a:off x="685800" y="2011680"/>
            <a:ext cx="365760" cy="36576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3" name="Google Shape;36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" y="210312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17"/>
          <p:cNvSpPr txBox="1"/>
          <p:nvPr/>
        </p:nvSpPr>
        <p:spPr>
          <a:xfrm>
            <a:off x="1188720" y="1965960"/>
            <a:ext cx="2651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Login, Home, Explore, Events, Messages, Profile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7"/>
          <p:cNvSpPr/>
          <p:nvPr/>
        </p:nvSpPr>
        <p:spPr>
          <a:xfrm>
            <a:off x="685800" y="2651760"/>
            <a:ext cx="365760" cy="36576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6" name="Google Shape;36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" y="274320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17"/>
          <p:cNvSpPr txBox="1"/>
          <p:nvPr/>
        </p:nvSpPr>
        <p:spPr>
          <a:xfrm>
            <a:off x="1188720" y="2606040"/>
            <a:ext cx="2651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Join clubs and RSVP in one tap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7"/>
          <p:cNvSpPr/>
          <p:nvPr/>
        </p:nvSpPr>
        <p:spPr>
          <a:xfrm>
            <a:off x="685800" y="3291840"/>
            <a:ext cx="365760" cy="36576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9" name="Google Shape;36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" y="338328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17"/>
          <p:cNvSpPr txBox="1"/>
          <p:nvPr/>
        </p:nvSpPr>
        <p:spPr>
          <a:xfrm>
            <a:off x="1188720" y="3246120"/>
            <a:ext cx="2651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Stage and Backstage club rooms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7"/>
          <p:cNvSpPr/>
          <p:nvPr/>
        </p:nvSpPr>
        <p:spPr>
          <a:xfrm>
            <a:off x="685800" y="3931920"/>
            <a:ext cx="365760" cy="36576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2" name="Google Shape;37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" y="402336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17"/>
          <p:cNvSpPr txBox="1"/>
          <p:nvPr/>
        </p:nvSpPr>
        <p:spPr>
          <a:xfrm>
            <a:off x="1188720" y="3886200"/>
            <a:ext cx="2651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Posts, likes, comments, reports, alerts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7"/>
          <p:cNvSpPr/>
          <p:nvPr/>
        </p:nvSpPr>
        <p:spPr>
          <a:xfrm>
            <a:off x="4206240" y="1325880"/>
            <a:ext cx="4480560" cy="960120"/>
          </a:xfrm>
          <a:prstGeom prst="roundRect">
            <a:avLst>
              <a:gd fmla="val 1142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7"/>
          <p:cNvSpPr/>
          <p:nvPr/>
        </p:nvSpPr>
        <p:spPr>
          <a:xfrm>
            <a:off x="4389120" y="1572768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7"/>
          <p:cNvSpPr txBox="1"/>
          <p:nvPr/>
        </p:nvSpPr>
        <p:spPr>
          <a:xfrm>
            <a:off x="4389120" y="157276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7"/>
          <p:cNvSpPr txBox="1"/>
          <p:nvPr/>
        </p:nvSpPr>
        <p:spPr>
          <a:xfrm>
            <a:off x="5029200" y="146304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7"/>
          <p:cNvSpPr txBox="1"/>
          <p:nvPr/>
        </p:nvSpPr>
        <p:spPr>
          <a:xfrm>
            <a:off x="5029200" y="178308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Real database, email login and live notifications.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7"/>
          <p:cNvSpPr/>
          <p:nvPr/>
        </p:nvSpPr>
        <p:spPr>
          <a:xfrm>
            <a:off x="4206240" y="2423160"/>
            <a:ext cx="4480560" cy="960120"/>
          </a:xfrm>
          <a:prstGeom prst="roundRect">
            <a:avLst>
              <a:gd fmla="val 1142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7"/>
          <p:cNvSpPr/>
          <p:nvPr/>
        </p:nvSpPr>
        <p:spPr>
          <a:xfrm>
            <a:off x="4389120" y="2670048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7"/>
          <p:cNvSpPr txBox="1"/>
          <p:nvPr/>
        </p:nvSpPr>
        <p:spPr>
          <a:xfrm>
            <a:off x="4389120" y="267004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7"/>
          <p:cNvSpPr txBox="1"/>
          <p:nvPr/>
        </p:nvSpPr>
        <p:spPr>
          <a:xfrm>
            <a:off x="5029200" y="256032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Pilot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7"/>
          <p:cNvSpPr txBox="1"/>
          <p:nvPr/>
        </p:nvSpPr>
        <p:spPr>
          <a:xfrm>
            <a:off x="5029200" y="288036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Launch with 5 clubs at SECE.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7"/>
          <p:cNvSpPr/>
          <p:nvPr/>
        </p:nvSpPr>
        <p:spPr>
          <a:xfrm>
            <a:off x="4206240" y="3520440"/>
            <a:ext cx="4480560" cy="960120"/>
          </a:xfrm>
          <a:prstGeom prst="roundRect">
            <a:avLst>
              <a:gd fmla="val 1142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7"/>
          <p:cNvSpPr/>
          <p:nvPr/>
        </p:nvSpPr>
        <p:spPr>
          <a:xfrm>
            <a:off x="4389120" y="3767328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7"/>
          <p:cNvSpPr txBox="1"/>
          <p:nvPr/>
        </p:nvSpPr>
        <p:spPr>
          <a:xfrm>
            <a:off x="4389120" y="376732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7"/>
          <p:cNvSpPr txBox="1"/>
          <p:nvPr/>
        </p:nvSpPr>
        <p:spPr>
          <a:xfrm>
            <a:off x="5029200" y="365760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 and grow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7"/>
          <p:cNvSpPr txBox="1"/>
          <p:nvPr/>
        </p:nvSpPr>
        <p:spPr>
          <a:xfrm>
            <a:off x="5029200" y="397764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Collect feedback from 50 students, then open to more clubs.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7"/>
          <p:cNvSpPr txBox="1"/>
          <p:nvPr>
            <p:ph idx="4294967295" type="sldNum"/>
          </p:nvPr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8"/>
          <p:cNvSpPr txBox="1"/>
          <p:nvPr/>
        </p:nvSpPr>
        <p:spPr>
          <a:xfrm>
            <a:off x="457200" y="64008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8"/>
          <p:cNvSpPr txBox="1"/>
          <p:nvPr/>
        </p:nvSpPr>
        <p:spPr>
          <a:xfrm>
            <a:off x="457200" y="1005840"/>
            <a:ext cx="493776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"Students shouldn't have to hunt for their own campus."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8"/>
          <p:cNvSpPr/>
          <p:nvPr/>
        </p:nvSpPr>
        <p:spPr>
          <a:xfrm>
            <a:off x="457200" y="2926080"/>
            <a:ext cx="4754880" cy="868680"/>
          </a:xfrm>
          <a:prstGeom prst="roundRect">
            <a:avLst>
              <a:gd fmla="val 12632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8"/>
          <p:cNvSpPr txBox="1"/>
          <p:nvPr/>
        </p:nvSpPr>
        <p:spPr>
          <a:xfrm>
            <a:off x="640080" y="2999232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THE ASK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8"/>
          <p:cNvSpPr txBox="1"/>
          <p:nvPr/>
        </p:nvSpPr>
        <p:spPr>
          <a:xfrm>
            <a:off x="640080" y="3246120"/>
            <a:ext cx="4389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Pilot with 5 clubs at SECE and gather feedback from 50 students.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8"/>
          <p:cNvSpPr txBox="1"/>
          <p:nvPr/>
        </p:nvSpPr>
        <p:spPr>
          <a:xfrm>
            <a:off x="457200" y="411480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Rakesh  |  Anshu  |  Raj  |  Ghanshyam  |  Kamlesh  |  Priyankaa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8"/>
          <p:cNvSpPr/>
          <p:nvPr/>
        </p:nvSpPr>
        <p:spPr>
          <a:xfrm>
            <a:off x="5971032" y="758952"/>
            <a:ext cx="1865376" cy="3602736"/>
          </a:xfrm>
          <a:prstGeom prst="roundRect">
            <a:avLst>
              <a:gd fmla="val 5882" name="adj"/>
            </a:avLst>
          </a:prstGeom>
          <a:solidFill>
            <a:schemeClr val="accent1"/>
          </a:solidFill>
          <a:ln>
            <a:noFill/>
          </a:ln>
          <a:effectLst>
            <a:outerShdw blurRad="101600" rotWithShape="0" algn="bl" dir="5400000" dist="25400">
              <a:srgbClr val="000000">
                <a:alpha val="1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ampusHub prototype screen: stage" id="402" name="Google Shape;40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5040" y="822960"/>
            <a:ext cx="1737360" cy="3474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ampusHub">
  <a:themeElements>
    <a:clrScheme name="CampusHub">
      <a:dk1>
        <a:srgbClr val="14141C"/>
      </a:dk1>
      <a:lt1>
        <a:srgbClr val="FFFFFF"/>
      </a:lt1>
      <a:dk2>
        <a:srgbClr val="241F45"/>
      </a:dk2>
      <a:lt2>
        <a:srgbClr val="F4F2FF"/>
      </a:lt2>
      <a:accent1>
        <a:srgbClr val="6C47FF"/>
      </a:accent1>
      <a:accent2>
        <a:srgbClr val="9A82FF"/>
      </a:accent2>
      <a:accent3>
        <a:srgbClr val="3DD68C"/>
      </a:accent3>
      <a:accent4>
        <a:srgbClr val="FF6369"/>
      </a:accent4>
      <a:accent5>
        <a:srgbClr val="FFB454"/>
      </a:accent5>
      <a:accent6>
        <a:srgbClr val="4DA3FF"/>
      </a:accent6>
      <a:hlink>
        <a:srgbClr val="6C47FF"/>
      </a:hlink>
      <a:folHlink>
        <a:srgbClr val="9A82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ampusHub">
  <a:themeElements>
    <a:clrScheme name="CampusHub">
      <a:dk1>
        <a:srgbClr val="14141C"/>
      </a:dk1>
      <a:lt1>
        <a:srgbClr val="FFFFFF"/>
      </a:lt1>
      <a:dk2>
        <a:srgbClr val="241F45"/>
      </a:dk2>
      <a:lt2>
        <a:srgbClr val="F4F2FF"/>
      </a:lt2>
      <a:accent1>
        <a:srgbClr val="6C47FF"/>
      </a:accent1>
      <a:accent2>
        <a:srgbClr val="9A82FF"/>
      </a:accent2>
      <a:accent3>
        <a:srgbClr val="3DD68C"/>
      </a:accent3>
      <a:accent4>
        <a:srgbClr val="FF6369"/>
      </a:accent4>
      <a:accent5>
        <a:srgbClr val="FFB454"/>
      </a:accent5>
      <a:accent6>
        <a:srgbClr val="4DA3FF"/>
      </a:accent6>
      <a:hlink>
        <a:srgbClr val="6C47FF"/>
      </a:hlink>
      <a:folHlink>
        <a:srgbClr val="9A82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